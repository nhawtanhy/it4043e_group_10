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4"/>
  </p:notesMasterIdLst>
  <p:handoutMasterIdLst>
    <p:handoutMasterId r:id="rId35"/>
  </p:handoutMasterIdLst>
  <p:sldIdLst>
    <p:sldId id="257" r:id="rId5"/>
    <p:sldId id="263" r:id="rId6"/>
    <p:sldId id="279" r:id="rId7"/>
    <p:sldId id="290" r:id="rId8"/>
    <p:sldId id="289" r:id="rId9"/>
    <p:sldId id="280" r:id="rId10"/>
    <p:sldId id="307" r:id="rId11"/>
    <p:sldId id="291" r:id="rId12"/>
    <p:sldId id="292" r:id="rId13"/>
    <p:sldId id="293" r:id="rId14"/>
    <p:sldId id="299" r:id="rId15"/>
    <p:sldId id="300" r:id="rId16"/>
    <p:sldId id="295" r:id="rId17"/>
    <p:sldId id="296" r:id="rId18"/>
    <p:sldId id="297" r:id="rId19"/>
    <p:sldId id="298" r:id="rId20"/>
    <p:sldId id="314" r:id="rId21"/>
    <p:sldId id="301" r:id="rId22"/>
    <p:sldId id="311" r:id="rId23"/>
    <p:sldId id="310" r:id="rId24"/>
    <p:sldId id="312" r:id="rId25"/>
    <p:sldId id="313" r:id="rId26"/>
    <p:sldId id="308" r:id="rId27"/>
    <p:sldId id="309" r:id="rId28"/>
    <p:sldId id="302" r:id="rId29"/>
    <p:sldId id="303" r:id="rId30"/>
    <p:sldId id="304" r:id="rId31"/>
    <p:sldId id="305" r:id="rId32"/>
    <p:sldId id="306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7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4197C4-2F8A-BE24-7DCB-7416556EB5A3}" v="26" dt="2025-12-28T05:45:42.885"/>
    <p1510:client id="{59C494FB-C369-4870-8E34-E0BB500FDEAD}" v="365" dt="2025-12-28T09:39:57.018"/>
    <p1510:client id="{C618B199-EBEC-5F1D-F46C-48B7981FCC26}" v="411" dt="2025-12-28T10:11:29.393"/>
    <p1510:client id="{EDA277C0-3399-EBAE-42F9-595955639081}" v="16" dt="2025-12-28T13:31:15.1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12/28/2025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12/28/2025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12/28/2025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12/28/2025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12/28/2025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12/28/2025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12/28/2025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12/28/2025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12/28/2025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12/28/2025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185465" y="2062048"/>
            <a:ext cx="10411415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5000"/>
              <a:t>Real-time Weather Data Analysis and Forecasting System in Vietnam 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185465" y="4022144"/>
            <a:ext cx="7964886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/>
              <a:t>Big Data Storage and Processing– IT4043E</a:t>
            </a:r>
          </a:p>
          <a:p>
            <a:r>
              <a:rPr lang="en-US" sz="2800" b="0"/>
              <a:t>Group 10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08E1B1-D9CD-415A-BCE5-B57F39B2F31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71500" indent="-571500">
              <a:buAutoNum type="romanUcPeriod"/>
            </a:pPr>
            <a:r>
              <a:rPr lang="en-US"/>
              <a:t>Problem Definition</a:t>
            </a:r>
          </a:p>
          <a:p>
            <a:pPr marL="571500" indent="-571500">
              <a:buAutoNum type="romanUcPeriod"/>
            </a:pPr>
            <a:r>
              <a:rPr lang="en-US"/>
              <a:t>Architecture and Design </a:t>
            </a:r>
          </a:p>
          <a:p>
            <a:pPr marL="571500" indent="-571500">
              <a:buAutoNum type="romanUcPeriod"/>
            </a:pPr>
            <a:r>
              <a:rPr lang="en-US"/>
              <a:t>Implementation Details</a:t>
            </a:r>
          </a:p>
          <a:p>
            <a:pPr marL="571500" indent="-571500">
              <a:buAutoNum type="romanUcPeriod"/>
            </a:pPr>
            <a:r>
              <a:rPr lang="en-US"/>
              <a:t>Lesson learned</a:t>
            </a:r>
          </a:p>
          <a:p>
            <a:pPr marL="571500" indent="-571500">
              <a:buAutoNum type="romanUcPeriod"/>
            </a:pP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6941D0-D074-43AE-8875-C4BDC98AD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 of contents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1CA00-8B5A-4B5F-AE21-CF0691D64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500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0DC5D-C03E-CF06-67F4-AAAC59583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944E4-DB14-6E01-8E64-5C93B7506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I. Problem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A09F2-A38F-5078-18CF-D493D47CF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93476"/>
            <a:ext cx="11514528" cy="4909124"/>
          </a:xfrm>
        </p:spPr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851C3-EC9A-0942-77CE-CCBFC2510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70FCF90-9421-03DE-35F4-3330465D8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B951D8-B3D4-0159-1EA5-BBE8BCFB3003}"/>
              </a:ext>
            </a:extLst>
          </p:cNvPr>
          <p:cNvSpPr txBox="1"/>
          <p:nvPr/>
        </p:nvSpPr>
        <p:spPr>
          <a:xfrm>
            <a:off x="338736" y="915751"/>
            <a:ext cx="113859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Vietnam’s increasing climate variability and the limitations of traditional forecasting methods highlight the need for a </a:t>
            </a:r>
            <a:r>
              <a:rPr lang="en-US" u="sng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real-time, scalable system that integrates high-frequency data to deliver accurate, localized weather predictions.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problem is quintessential for “Big Data”: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9FDE9A3-4D04-D45D-D5AE-09C7678FE07D}"/>
              </a:ext>
            </a:extLst>
          </p:cNvPr>
          <p:cNvSpPr/>
          <p:nvPr/>
        </p:nvSpPr>
        <p:spPr>
          <a:xfrm>
            <a:off x="558800" y="2553820"/>
            <a:ext cx="1818640" cy="4332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Volume</a:t>
            </a: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2B2A2C-7D9E-CD84-244A-30E02665AB12}"/>
              </a:ext>
            </a:extLst>
          </p:cNvPr>
          <p:cNvSpPr/>
          <p:nvPr/>
        </p:nvSpPr>
        <p:spPr>
          <a:xfrm>
            <a:off x="558800" y="3268312"/>
            <a:ext cx="1818640" cy="4151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Velocity</a:t>
            </a: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804A70-E4D3-31AA-A710-4B050A4261CB}"/>
              </a:ext>
            </a:extLst>
          </p:cNvPr>
          <p:cNvSpPr txBox="1"/>
          <p:nvPr/>
        </p:nvSpPr>
        <p:spPr>
          <a:xfrm>
            <a:off x="2753360" y="2501390"/>
            <a:ext cx="8879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Historical weather data can reach hundreds of thousands of rows, requiring fast read and write operations.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94E83C-6C0B-96F4-4367-8A71D1AC1C6E}"/>
              </a:ext>
            </a:extLst>
          </p:cNvPr>
          <p:cNvSpPr txBox="1"/>
          <p:nvPr/>
        </p:nvSpPr>
        <p:spPr>
          <a:xfrm>
            <a:off x="2753360" y="3229097"/>
            <a:ext cx="8971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Weather data arrives in real time and must be ingested and processed within seconds to be useful.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8407987-5A19-CD10-C7E5-BE1FEE198583}"/>
              </a:ext>
            </a:extLst>
          </p:cNvPr>
          <p:cNvSpPr/>
          <p:nvPr/>
        </p:nvSpPr>
        <p:spPr>
          <a:xfrm>
            <a:off x="558800" y="3996019"/>
            <a:ext cx="1818640" cy="4151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Variety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6E7EB5-8AF1-43AE-89D9-5557250B31D0}"/>
              </a:ext>
            </a:extLst>
          </p:cNvPr>
          <p:cNvSpPr txBox="1"/>
          <p:nvPr/>
        </p:nvSpPr>
        <p:spPr>
          <a:xfrm>
            <a:off x="2753360" y="3956804"/>
            <a:ext cx="8249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comes from multiple sources and formats (JSON and CSV) and must be unified into a single structure.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C7C24E0-EC81-77D0-BF03-7E4844E3B93A}"/>
              </a:ext>
            </a:extLst>
          </p:cNvPr>
          <p:cNvSpPr/>
          <p:nvPr/>
        </p:nvSpPr>
        <p:spPr>
          <a:xfrm>
            <a:off x="558800" y="4762941"/>
            <a:ext cx="1818640" cy="4151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Veracity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BC93B5-ED43-C81F-5AA9-74B9F5CAC0DB}"/>
              </a:ext>
            </a:extLst>
          </p:cNvPr>
          <p:cNvSpPr txBox="1"/>
          <p:nvPr/>
        </p:nvSpPr>
        <p:spPr>
          <a:xfrm>
            <a:off x="2753360" y="4723726"/>
            <a:ext cx="8249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Sensor noise and inconsistent fields require real-time data cleaning and validation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889D7A3-2315-2095-AACE-2C72FDC86831}"/>
              </a:ext>
            </a:extLst>
          </p:cNvPr>
          <p:cNvSpPr/>
          <p:nvPr/>
        </p:nvSpPr>
        <p:spPr>
          <a:xfrm>
            <a:off x="558800" y="5549347"/>
            <a:ext cx="1818640" cy="4151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Value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20A442-E1E5-CAF1-CE95-579F53AF3D02}"/>
              </a:ext>
            </a:extLst>
          </p:cNvPr>
          <p:cNvSpPr txBox="1"/>
          <p:nvPr/>
        </p:nvSpPr>
        <p:spPr>
          <a:xfrm>
            <a:off x="2753360" y="5479434"/>
            <a:ext cx="9225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Accurate real-time weather forecasting delivers significant socio-economic benefits for Vietnam.</a:t>
            </a:r>
          </a:p>
        </p:txBody>
      </p:sp>
    </p:spTree>
    <p:extLst>
      <p:ext uri="{BB962C8B-B14F-4D97-AF65-F5344CB8AC3E}">
        <p14:creationId xmlns:p14="http://schemas.microsoft.com/office/powerpoint/2010/main" val="3231317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7FBD3-18EF-7B87-24B0-E19776039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3FCB1-3997-FD29-A828-940D7C4C4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I. Problem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3EB12-6471-5A1C-28AB-1A29B7982C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93476"/>
            <a:ext cx="11514528" cy="4909124"/>
          </a:xfrm>
        </p:spPr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EB8D4-E02A-5936-A92A-33B7872F6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4D767F-32B6-E095-0CD5-9B379BACDF0B}"/>
              </a:ext>
            </a:extLst>
          </p:cNvPr>
          <p:cNvSpPr txBox="1"/>
          <p:nvPr/>
        </p:nvSpPr>
        <p:spPr>
          <a:xfrm>
            <a:off x="213360" y="1466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3A7711F-8813-E764-CF20-C39E2263B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7749E0-57B4-C097-BEA8-38E974892DF1}"/>
              </a:ext>
            </a:extLst>
          </p:cNvPr>
          <p:cNvSpPr txBox="1"/>
          <p:nvPr/>
        </p:nvSpPr>
        <p:spPr>
          <a:xfrm>
            <a:off x="338736" y="975539"/>
            <a:ext cx="1138590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Scope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u="sng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Geographical Coverage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Analysis of weather data across 34 cities in Vietnam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u="sng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Sources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Open-source weather data collected via APIs from </a:t>
            </a:r>
            <a:r>
              <a:rPr lang="en-US" b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OpenWeatherAPI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and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Open-</a:t>
            </a:r>
            <a:r>
              <a:rPr lang="en-US" b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Meteo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u="sng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Temporal Focus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Short-term forecasting using 24-hour input data to predict next-hour temperature (historical data stored on S3 for future extension)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u="sng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Output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An interactive dashboard displaying weather analytics and next-hour temperature predictions</a:t>
            </a:r>
          </a:p>
          <a:p>
            <a:pPr algn="just"/>
            <a:endParaRPr lang="en-US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853C10-CD3C-EE1E-3BF8-7060734D6B93}"/>
              </a:ext>
            </a:extLst>
          </p:cNvPr>
          <p:cNvSpPr txBox="1"/>
          <p:nvPr/>
        </p:nvSpPr>
        <p:spPr>
          <a:xfrm>
            <a:off x="338736" y="3301999"/>
            <a:ext cx="11385904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u="sng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Limitations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u="sng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Hardware Constraints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High-resolution weather modeling requires substantial CPU/GPU resources and costly cloud infrastructure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u="sng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Availability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Limited or missing sensor coverage in some regions affects data completeness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u="sng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Forecast Uncertainty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Atmospheric systems are inherently chaotic, limiting prediction accuracy over longer time horizons</a:t>
            </a:r>
            <a:endParaRPr lang="en-US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565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27296-8779-0701-061D-322D69BE8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F3648-4AC8-CE0A-219B-CAB5D8C9E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II. Architecture and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5CE6-BA23-AC56-78C3-E2C430E6AD9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93476"/>
            <a:ext cx="11514528" cy="4909124"/>
          </a:xfrm>
        </p:spPr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B72FB-C5C1-5513-9EFD-CED69FE58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55685A-5300-368A-5A12-35942F2B3B0F}"/>
              </a:ext>
            </a:extLst>
          </p:cNvPr>
          <p:cNvSpPr txBox="1"/>
          <p:nvPr/>
        </p:nvSpPr>
        <p:spPr>
          <a:xfrm>
            <a:off x="213360" y="1466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7F2F60E-2D52-F455-D926-D799B0981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E88DCD-E24D-3FDC-807D-CD1155325073}"/>
              </a:ext>
            </a:extLst>
          </p:cNvPr>
          <p:cNvSpPr txBox="1"/>
          <p:nvPr/>
        </p:nvSpPr>
        <p:spPr>
          <a:xfrm>
            <a:off x="338736" y="975539"/>
            <a:ext cx="101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Lambda Architecture covering Ingestion, Processing, Storage, Visualization</a:t>
            </a:r>
          </a:p>
        </p:txBody>
      </p:sp>
      <p:pic>
        <p:nvPicPr>
          <p:cNvPr id="5" name="Picture 4" descr="A diagram of a company&#10;&#10;AI-generated content may be incorrect.">
            <a:extLst>
              <a:ext uri="{FF2B5EF4-FFF2-40B4-BE49-F238E27FC236}">
                <a16:creationId xmlns:a16="http://schemas.microsoft.com/office/drawing/2014/main" id="{01883966-6F1A-FEF1-DBB7-7E204D7F77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05" t="17143" r="3804" b="15558"/>
          <a:stretch>
            <a:fillRect/>
          </a:stretch>
        </p:blipFill>
        <p:spPr>
          <a:xfrm>
            <a:off x="516793" y="1462217"/>
            <a:ext cx="11386207" cy="4615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095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E1C44-D50E-9E5F-BE21-5DBC58EFD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92C97-28B7-162C-24E8-8653600F0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II. Architecture and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DC54B-3088-8C2E-A7E9-5D100C6C29C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93476"/>
            <a:ext cx="11514528" cy="4909124"/>
          </a:xfrm>
        </p:spPr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C197B-0F6C-8CDF-B22C-B4BC94267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48B7B2-9910-B7FB-0DF3-6867C3D649B4}"/>
              </a:ext>
            </a:extLst>
          </p:cNvPr>
          <p:cNvSpPr txBox="1"/>
          <p:nvPr/>
        </p:nvSpPr>
        <p:spPr>
          <a:xfrm>
            <a:off x="213360" y="1466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5070DBA1-D69B-9C60-000A-6F7DBE291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DCB1E8-922C-AEB2-F461-55436A5764DE}"/>
              </a:ext>
            </a:extLst>
          </p:cNvPr>
          <p:cNvSpPr txBox="1"/>
          <p:nvPr/>
        </p:nvSpPr>
        <p:spPr>
          <a:xfrm>
            <a:off x="338736" y="975539"/>
            <a:ext cx="101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Ingestion Layer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70B926-F943-9905-665C-30DDA5B91DAE}"/>
              </a:ext>
            </a:extLst>
          </p:cNvPr>
          <p:cNvSpPr txBox="1"/>
          <p:nvPr/>
        </p:nvSpPr>
        <p:spPr>
          <a:xfrm>
            <a:off x="3261360" y="1555258"/>
            <a:ext cx="8834307" cy="286232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OpenMeteo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Historical weather data</a:t>
            </a: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OpenWeather 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Current weather data </a:t>
            </a:r>
            <a:endParaRPr lang="en-US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AutoShape 4" descr="Kafka là gì? Tại sao nó lại phổ biến đến vậy?">
            <a:extLst>
              <a:ext uri="{FF2B5EF4-FFF2-40B4-BE49-F238E27FC236}">
                <a16:creationId xmlns:a16="http://schemas.microsoft.com/office/drawing/2014/main" id="{B1F565F4-2B24-96DD-FA28-7A7D80CD21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 descr="A diagram of an amazon spark&#10;&#10;AI-generated content may be incorrect.">
            <a:extLst>
              <a:ext uri="{FF2B5EF4-FFF2-40B4-BE49-F238E27FC236}">
                <a16:creationId xmlns:a16="http://schemas.microsoft.com/office/drawing/2014/main" id="{B83D7B29-1379-1B1D-D8A0-81A9EDD35F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015" r="87394"/>
          <a:stretch>
            <a:fillRect/>
          </a:stretch>
        </p:blipFill>
        <p:spPr>
          <a:xfrm>
            <a:off x="38047" y="1503931"/>
            <a:ext cx="2728637" cy="3850137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034D0D1-3CF1-F370-34F3-FE701A2A0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1768" y="3433920"/>
            <a:ext cx="4321496" cy="3003804"/>
          </a:xfrm>
          <a:prstGeom prst="rect">
            <a:avLst/>
          </a:prstGeom>
        </p:spPr>
      </p:pic>
      <p:pic>
        <p:nvPicPr>
          <p:cNvPr id="17" name="Picture 1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97C609F9-9611-2B35-F9CE-D8997E3990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1768" y="728250"/>
            <a:ext cx="4150895" cy="254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129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A2B0F-BBDF-88BB-7377-0456ED128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ED22D-4930-D8FD-97EC-74E939326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II. Architecture and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DC091-69E5-2F2D-703E-07DC5DAD82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93476"/>
            <a:ext cx="11514528" cy="4909124"/>
          </a:xfrm>
        </p:spPr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99213-7E54-3EA7-EA60-BF4E54AE7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297F88-DFAC-635B-D6A1-36A9E2F01ABD}"/>
              </a:ext>
            </a:extLst>
          </p:cNvPr>
          <p:cNvSpPr txBox="1"/>
          <p:nvPr/>
        </p:nvSpPr>
        <p:spPr>
          <a:xfrm>
            <a:off x="213360" y="1466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0F196E4-C6E1-CFE8-0793-CFB606C80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9E2859-807C-7098-9735-0D0A5BF4F65F}"/>
              </a:ext>
            </a:extLst>
          </p:cNvPr>
          <p:cNvSpPr txBox="1"/>
          <p:nvPr/>
        </p:nvSpPr>
        <p:spPr>
          <a:xfrm>
            <a:off x="338736" y="975539"/>
            <a:ext cx="101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Ingestion Layer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774D52-3316-5B08-5141-4E8D5290C1A6}"/>
              </a:ext>
            </a:extLst>
          </p:cNvPr>
          <p:cNvSpPr txBox="1"/>
          <p:nvPr/>
        </p:nvSpPr>
        <p:spPr>
          <a:xfrm>
            <a:off x="3261360" y="1555258"/>
            <a:ext cx="8834307" cy="36933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Approach Tried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Removed unnecessary columns to reduce data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Kept only features needed for ML training and real-time weather display</a:t>
            </a:r>
          </a:p>
          <a:p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Final Solution</a:t>
            </a:r>
          </a:p>
          <a:p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Dropped unused columns to significantly speed up ML processing</a:t>
            </a: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Key Takeaways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Different APIs have inconsistent data structures and require preprocessing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Flattening JSON simplifies data for efficient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Reducing data dimensions improves performance in real-time pipelines</a:t>
            </a:r>
          </a:p>
          <a:p>
            <a:endParaRPr lang="en-US"/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AutoShape 4" descr="Kafka là gì? Tại sao nó lại phổ biến đến vậy?">
            <a:extLst>
              <a:ext uri="{FF2B5EF4-FFF2-40B4-BE49-F238E27FC236}">
                <a16:creationId xmlns:a16="http://schemas.microsoft.com/office/drawing/2014/main" id="{42A7C936-21F4-7F91-DB6C-18D38B6109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 descr="A diagram of an amazon spark&#10;&#10;AI-generated content may be incorrect.">
            <a:extLst>
              <a:ext uri="{FF2B5EF4-FFF2-40B4-BE49-F238E27FC236}">
                <a16:creationId xmlns:a16="http://schemas.microsoft.com/office/drawing/2014/main" id="{DDFD472E-FA74-9EED-BB49-F1BDA399BE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015" r="87394"/>
          <a:stretch>
            <a:fillRect/>
          </a:stretch>
        </p:blipFill>
        <p:spPr>
          <a:xfrm>
            <a:off x="38047" y="1503931"/>
            <a:ext cx="2728637" cy="3850137"/>
          </a:xfrm>
          <a:prstGeom prst="rect">
            <a:avLst/>
          </a:prstGeom>
        </p:spPr>
      </p:pic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E326EB59-6ADA-E487-1ECC-716E64013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928" y="4685280"/>
            <a:ext cx="3957442" cy="146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979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99351-026F-CCD2-0075-7B8AC4305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7365A-05DC-0959-4EBB-4E8DFCD30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II. Architecture and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28157-F01D-BDEA-A43D-F2785FE4506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93476"/>
            <a:ext cx="11514528" cy="4909124"/>
          </a:xfrm>
        </p:spPr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D77767-33B1-7D6C-C8A5-47DD22543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1E2C4D-FBBB-50E6-0791-9777CA0F4484}"/>
              </a:ext>
            </a:extLst>
          </p:cNvPr>
          <p:cNvSpPr txBox="1"/>
          <p:nvPr/>
        </p:nvSpPr>
        <p:spPr>
          <a:xfrm>
            <a:off x="213360" y="1466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274697A-CFD7-DFCD-63B1-3C6BB59A9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963242-4F04-112B-D553-15AF18A1653B}"/>
              </a:ext>
            </a:extLst>
          </p:cNvPr>
          <p:cNvSpPr txBox="1"/>
          <p:nvPr/>
        </p:nvSpPr>
        <p:spPr>
          <a:xfrm>
            <a:off x="338736" y="975539"/>
            <a:ext cx="101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Stream Processing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CD287A-C181-DC6E-C360-F41B7F97ED32}"/>
              </a:ext>
            </a:extLst>
          </p:cNvPr>
          <p:cNvSpPr txBox="1"/>
          <p:nvPr/>
        </p:nvSpPr>
        <p:spPr>
          <a:xfrm>
            <a:off x="588389" y="1501206"/>
            <a:ext cx="1131132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Apache Kafka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Kafka handles stream data. In this case, stream data is the current weather data from OpenWeather API.</a:t>
            </a:r>
          </a:p>
          <a:p>
            <a:endParaRPr lang="en-US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AutoShape 4" descr="Kafka là gì? Tại sao nó lại phổ biến đến vậy?">
            <a:extLst>
              <a:ext uri="{FF2B5EF4-FFF2-40B4-BE49-F238E27FC236}">
                <a16:creationId xmlns:a16="http://schemas.microsoft.com/office/drawing/2014/main" id="{E6E0A003-3C12-58D8-9D45-C174199540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Picture 12" descr="A diagram of a spark&#10;&#10;AI-generated content may be incorrect.">
            <a:extLst>
              <a:ext uri="{FF2B5EF4-FFF2-40B4-BE49-F238E27FC236}">
                <a16:creationId xmlns:a16="http://schemas.microsoft.com/office/drawing/2014/main" id="{723DA7C5-AF48-F59E-96E4-4032F517AC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120" r="2398" b="33158"/>
          <a:stretch>
            <a:fillRect/>
          </a:stretch>
        </p:blipFill>
        <p:spPr>
          <a:xfrm>
            <a:off x="146144" y="2338192"/>
            <a:ext cx="11899711" cy="2175504"/>
          </a:xfrm>
          <a:prstGeom prst="rect">
            <a:avLst/>
          </a:prstGeom>
        </p:spPr>
      </p:pic>
      <p:pic>
        <p:nvPicPr>
          <p:cNvPr id="9" name="Picture 8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EF54E757-8EBC-2CA0-1560-1D91E8730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957" y="4543441"/>
            <a:ext cx="10527631" cy="1267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005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F516A-200B-EFD9-3388-3C131EB4A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3DECF-47AD-7E27-E948-2AFA6CF1F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II. Architecture and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3729F-3E1E-B4F2-5609-D58ABC9F64D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93476"/>
            <a:ext cx="11514528" cy="4909124"/>
          </a:xfrm>
        </p:spPr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4C8C92-C485-09DE-AFEC-34F7CADDE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2929E8-6F64-230D-FAAA-EEDD468AED3A}"/>
              </a:ext>
            </a:extLst>
          </p:cNvPr>
          <p:cNvSpPr txBox="1"/>
          <p:nvPr/>
        </p:nvSpPr>
        <p:spPr>
          <a:xfrm>
            <a:off x="213360" y="1466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0BF59E1-0444-7C13-A670-75057D106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D33AE4-DA93-9124-55A7-225F26EB0E92}"/>
              </a:ext>
            </a:extLst>
          </p:cNvPr>
          <p:cNvSpPr txBox="1"/>
          <p:nvPr/>
        </p:nvSpPr>
        <p:spPr>
          <a:xfrm>
            <a:off x="338736" y="975539"/>
            <a:ext cx="101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Stream Processing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DD8CFC-63D5-3807-CD07-5A30B6F4384A}"/>
              </a:ext>
            </a:extLst>
          </p:cNvPr>
          <p:cNvSpPr txBox="1"/>
          <p:nvPr/>
        </p:nvSpPr>
        <p:spPr>
          <a:xfrm>
            <a:off x="588389" y="1501206"/>
            <a:ext cx="11311322" cy="31700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Apache Spark (Stream Spark + Bronze)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Real-time weather data ingested from 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OpenWeather API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via 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Kafka</a:t>
            </a: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Spark Structured Streaming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processes event-time data continuously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Raw events stored in 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Bronze (Parquet)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for durability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Windowed aggregation + watermark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handle late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Aggregated results 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upsurged to Elasticsearch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for real-time analytics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AutoShape 4" descr="Kafka là gì? Tại sao nó lại phổ biến đến vậy?">
            <a:extLst>
              <a:ext uri="{FF2B5EF4-FFF2-40B4-BE49-F238E27FC236}">
                <a16:creationId xmlns:a16="http://schemas.microsoft.com/office/drawing/2014/main" id="{09BF7FE8-E437-DDC9-D577-44658EFD6C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Picture 12" descr="A diagram of a spark&#10;&#10;AI-generated content may be incorrect.">
            <a:extLst>
              <a:ext uri="{FF2B5EF4-FFF2-40B4-BE49-F238E27FC236}">
                <a16:creationId xmlns:a16="http://schemas.microsoft.com/office/drawing/2014/main" id="{28BABE13-F5B3-D01D-5A00-A338773F5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120" r="2398" b="33158"/>
          <a:stretch>
            <a:fillRect/>
          </a:stretch>
        </p:blipFill>
        <p:spPr>
          <a:xfrm>
            <a:off x="146144" y="3618425"/>
            <a:ext cx="11899711" cy="217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810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89F21-54B8-2168-646D-6B871050D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70A6-BEA7-441A-3140-1F0C93CC3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II. Architecture and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16F54-4E30-1ADB-D34F-71C7C203BF3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93476"/>
            <a:ext cx="11514528" cy="4909124"/>
          </a:xfrm>
        </p:spPr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4FA7B-36FB-615F-25F5-A168D49C3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98596F-4F77-F293-F1C9-FFFF7C3AAB7E}"/>
              </a:ext>
            </a:extLst>
          </p:cNvPr>
          <p:cNvSpPr txBox="1"/>
          <p:nvPr/>
        </p:nvSpPr>
        <p:spPr>
          <a:xfrm>
            <a:off x="213360" y="1466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387669B-97B8-5C64-2D92-4399E7D96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630363-0168-FA72-17FA-4E8B47ECF39B}"/>
              </a:ext>
            </a:extLst>
          </p:cNvPr>
          <p:cNvSpPr txBox="1"/>
          <p:nvPr/>
        </p:nvSpPr>
        <p:spPr>
          <a:xfrm>
            <a:off x="338736" y="975539"/>
            <a:ext cx="101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Batch Processing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B98859-37EC-CEE7-8F7B-D40EB894A2F1}"/>
              </a:ext>
            </a:extLst>
          </p:cNvPr>
          <p:cNvSpPr txBox="1"/>
          <p:nvPr/>
        </p:nvSpPr>
        <p:spPr>
          <a:xfrm>
            <a:off x="541941" y="1454135"/>
            <a:ext cx="11311322" cy="258532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Amazon S3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Amazon S3 serves as a storage for historical data</a:t>
            </a:r>
            <a:endParaRPr lang="en-US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ea typeface="+mn-lt"/>
                <a:cs typeface="+mn-lt"/>
              </a:rPr>
              <a:t>    Historical weather data stored in </a:t>
            </a:r>
            <a:r>
              <a:rPr lang="en-US" b="1">
                <a:ea typeface="+mn-lt"/>
                <a:cs typeface="+mn-lt"/>
              </a:rPr>
              <a:t>Amazon S3</a:t>
            </a: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>
                <a:ea typeface="+mn-lt"/>
                <a:cs typeface="+mn-lt"/>
              </a:rPr>
              <a:t>    Spark batch jobs</a:t>
            </a:r>
            <a:r>
              <a:rPr lang="en-US">
                <a:ea typeface="+mn-lt"/>
                <a:cs typeface="+mn-lt"/>
              </a:rPr>
              <a:t> process 24-hour data windows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b="1">
                <a:ea typeface="+mn-lt"/>
                <a:cs typeface="+mn-lt"/>
              </a:rPr>
              <a:t>    </a:t>
            </a:r>
            <a:r>
              <a:rPr lang="en-US" b="1" err="1">
                <a:ea typeface="+mn-lt"/>
                <a:cs typeface="+mn-lt"/>
              </a:rPr>
              <a:t>CronJob</a:t>
            </a:r>
            <a:r>
              <a:rPr lang="en-US" b="1">
                <a:ea typeface="+mn-lt"/>
                <a:cs typeface="+mn-lt"/>
              </a:rPr>
              <a:t> runs every 45 minutes</a:t>
            </a:r>
            <a:r>
              <a:rPr lang="en-US">
                <a:ea typeface="+mn-lt"/>
                <a:cs typeface="+mn-lt"/>
              </a:rPr>
              <a:t> to add  datasets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ea typeface="+mn-lt"/>
                <a:cs typeface="+mn-lt"/>
              </a:rPr>
              <a:t>    Processed data written to </a:t>
            </a:r>
            <a:r>
              <a:rPr lang="en-US" b="1">
                <a:ea typeface="+mn-lt"/>
                <a:cs typeface="+mn-lt"/>
              </a:rPr>
              <a:t>Silver layer</a:t>
            </a:r>
            <a:r>
              <a:rPr lang="en-US">
                <a:ea typeface="+mn-lt"/>
                <a:cs typeface="+mn-lt"/>
              </a:rPr>
              <a:t> and </a:t>
            </a:r>
            <a:r>
              <a:rPr lang="en-US" b="1">
                <a:ea typeface="+mn-lt"/>
                <a:cs typeface="+mn-lt"/>
              </a:rPr>
              <a:t>ML-ready tables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AutoShape 4" descr="Kafka là gì? Tại sao nó lại phổ biến đến vậy?">
            <a:extLst>
              <a:ext uri="{FF2B5EF4-FFF2-40B4-BE49-F238E27FC236}">
                <a16:creationId xmlns:a16="http://schemas.microsoft.com/office/drawing/2014/main" id="{AF019785-2884-7558-91FE-C066710466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A diagram of an internet search engine&#10;&#10;AI-generated content may be incorrect.">
            <a:extLst>
              <a:ext uri="{FF2B5EF4-FFF2-40B4-BE49-F238E27FC236}">
                <a16:creationId xmlns:a16="http://schemas.microsoft.com/office/drawing/2014/main" id="{B8EB3963-04F5-9622-0826-A32D8C368C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65" r="2779" b="19298"/>
          <a:stretch>
            <a:fillRect/>
          </a:stretch>
        </p:blipFill>
        <p:spPr>
          <a:xfrm>
            <a:off x="-2675" y="3134932"/>
            <a:ext cx="8894012" cy="3156723"/>
          </a:xfrm>
          <a:prstGeom prst="rect">
            <a:avLst/>
          </a:prstGeom>
        </p:spPr>
      </p:pic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705B343B-B839-802E-01E5-E2A169732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6170" y="3699603"/>
            <a:ext cx="3165131" cy="258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174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A442F-5D1A-0213-1946-63DA013CA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4BEAE-DE92-555D-E1E5-6DFC40B53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II. Architecture and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B1393-363E-FFE3-AB22-9FEDFA422E6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93476"/>
            <a:ext cx="11514528" cy="4909124"/>
          </a:xfrm>
        </p:spPr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5E8C5-07E5-5CEE-DC59-C87E2A228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CDE1F7-C688-46CE-9CB5-2B3B452CC3BF}"/>
              </a:ext>
            </a:extLst>
          </p:cNvPr>
          <p:cNvSpPr txBox="1"/>
          <p:nvPr/>
        </p:nvSpPr>
        <p:spPr>
          <a:xfrm>
            <a:off x="213360" y="1466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563C922-1740-D655-874F-639C8CAA4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A6100C-88E2-02BE-2011-FF05D0A5449A}"/>
              </a:ext>
            </a:extLst>
          </p:cNvPr>
          <p:cNvSpPr txBox="1"/>
          <p:nvPr/>
        </p:nvSpPr>
        <p:spPr>
          <a:xfrm>
            <a:off x="338736" y="975539"/>
            <a:ext cx="101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Batch Processing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4A6E9E-0054-10E8-D9A1-0C8352145C27}"/>
              </a:ext>
            </a:extLst>
          </p:cNvPr>
          <p:cNvSpPr txBox="1"/>
          <p:nvPr/>
        </p:nvSpPr>
        <p:spPr>
          <a:xfrm>
            <a:off x="541941" y="1454135"/>
            <a:ext cx="11311322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Time-Series Data Storage Evaluation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Large-scale time-series weather data requires efficient and scalable storage.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Multiple storage formats were evaluated for ingestion and analytics performance</a:t>
            </a:r>
          </a:p>
        </p:txBody>
      </p:sp>
      <p:sp>
        <p:nvSpPr>
          <p:cNvPr id="10" name="AutoShape 4" descr="Kafka là gì? Tại sao nó lại phổ biến đến vậy?">
            <a:extLst>
              <a:ext uri="{FF2B5EF4-FFF2-40B4-BE49-F238E27FC236}">
                <a16:creationId xmlns:a16="http://schemas.microsoft.com/office/drawing/2014/main" id="{BF1F86AC-8A14-A73F-5AFA-2A748EC373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2" name="Picture 4" descr="Apache Avro - Wikipedia">
            <a:extLst>
              <a:ext uri="{FF2B5EF4-FFF2-40B4-BE49-F238E27FC236}">
                <a16:creationId xmlns:a16="http://schemas.microsoft.com/office/drawing/2014/main" id="{F89DFD81-3355-3C13-0369-94C1D4C75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" y="2560854"/>
            <a:ext cx="2117558" cy="741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Apache ORC • High-Performance Columnar Storage for Hadoop">
            <a:extLst>
              <a:ext uri="{FF2B5EF4-FFF2-40B4-BE49-F238E27FC236}">
                <a16:creationId xmlns:a16="http://schemas.microsoft.com/office/drawing/2014/main" id="{F7B11434-5870-00A9-5B40-09B0F9D0E3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736" y="3932356"/>
            <a:ext cx="1925732" cy="738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829B7BAB-864A-C3C1-B12B-EBC3C3AFAC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" y="5123168"/>
            <a:ext cx="2398172" cy="487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37EA723-1B8F-3735-7FCC-D82B3630A42D}"/>
              </a:ext>
            </a:extLst>
          </p:cNvPr>
          <p:cNvSpPr txBox="1"/>
          <p:nvPr/>
        </p:nvSpPr>
        <p:spPr>
          <a:xfrm>
            <a:off x="2763970" y="2600496"/>
            <a:ext cx="86562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Row-based storage format.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Excellent for fast ingestion and schema evolution.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Inefficient for analytics since entire rows must be read even when querying a single column.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D64306-8282-B1B8-6A9F-BD93AD5ACF9A}"/>
              </a:ext>
            </a:extLst>
          </p:cNvPr>
          <p:cNvSpPr txBox="1"/>
          <p:nvPr/>
        </p:nvSpPr>
        <p:spPr>
          <a:xfrm>
            <a:off x="2763970" y="3867676"/>
            <a:ext cx="91012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Columnar format optimized for Hive.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Highest compression ratio among tested formats.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Less compatible with Python and broader data science workflows outside Hadoop.</a:t>
            </a:r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34CBD8-50F2-B168-D64C-E9358927FFB8}"/>
              </a:ext>
            </a:extLst>
          </p:cNvPr>
          <p:cNvSpPr txBox="1"/>
          <p:nvPr/>
        </p:nvSpPr>
        <p:spPr>
          <a:xfrm>
            <a:off x="2837484" y="4978751"/>
            <a:ext cx="85827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Columnar format designed for analytical workloads and nested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Well-suited for transformed datasets in Silver and Gold layers.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Strong ecosystem support across Spark and Python tools.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878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EC9DE-433B-8547-DAA6-973A3E449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1F568-B02C-C9DA-2179-0EA8A1B3C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II. Architecture and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69F5F-7368-86B1-0A7D-ACBD300A010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93476"/>
            <a:ext cx="11514528" cy="4909124"/>
          </a:xfrm>
        </p:spPr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ECE495-7953-CE3C-05EE-03AD5F382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F43C19-4001-1B19-6204-49637C7F32E3}"/>
              </a:ext>
            </a:extLst>
          </p:cNvPr>
          <p:cNvSpPr txBox="1"/>
          <p:nvPr/>
        </p:nvSpPr>
        <p:spPr>
          <a:xfrm>
            <a:off x="213360" y="1466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011868A-6D71-DF70-9B86-9A5C4F324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B11115-298D-889F-9DB9-2B2C4E3A4FB2}"/>
              </a:ext>
            </a:extLst>
          </p:cNvPr>
          <p:cNvSpPr txBox="1"/>
          <p:nvPr/>
        </p:nvSpPr>
        <p:spPr>
          <a:xfrm>
            <a:off x="338736" y="975539"/>
            <a:ext cx="101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Batch Processing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330985-371B-491C-7873-257DD128B29C}"/>
              </a:ext>
            </a:extLst>
          </p:cNvPr>
          <p:cNvSpPr txBox="1"/>
          <p:nvPr/>
        </p:nvSpPr>
        <p:spPr>
          <a:xfrm>
            <a:off x="541941" y="1454135"/>
            <a:ext cx="11311322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Parquet chosen as the primary storage format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Best balance of performance, usability, and ecosystem compatibility.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Easier to work with than Avro and ORC for analytics and ML pipelines.</a:t>
            </a:r>
          </a:p>
        </p:txBody>
      </p:sp>
      <p:sp>
        <p:nvSpPr>
          <p:cNvPr id="10" name="AutoShape 4" descr="Kafka là gì? Tại sao nó lại phổ biến đến vậy?">
            <a:extLst>
              <a:ext uri="{FF2B5EF4-FFF2-40B4-BE49-F238E27FC236}">
                <a16:creationId xmlns:a16="http://schemas.microsoft.com/office/drawing/2014/main" id="{918AB21E-3CDA-210A-670B-CB57547C54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9579A3B8-6831-94CB-F682-BFC6FE636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" y="2628083"/>
            <a:ext cx="2398172" cy="487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1064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8FBAD-ADDE-5373-B9B8-74270076D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9634C-EA9E-34D5-A0EA-3A167046B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II. Architecture and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AC301-B0CC-E90B-CA43-1ECFF6BFF05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93476"/>
            <a:ext cx="11514528" cy="4909124"/>
          </a:xfrm>
        </p:spPr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2CF27-9B64-31AF-06DB-BB4E3B682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066BF9-473C-2952-D8FD-5CABD816A08B}"/>
              </a:ext>
            </a:extLst>
          </p:cNvPr>
          <p:cNvSpPr txBox="1"/>
          <p:nvPr/>
        </p:nvSpPr>
        <p:spPr>
          <a:xfrm>
            <a:off x="213360" y="1466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D37E60F-6A4B-A820-6D90-2A005D45C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6ECF40-21D6-32D1-089B-E11169E83169}"/>
              </a:ext>
            </a:extLst>
          </p:cNvPr>
          <p:cNvSpPr txBox="1"/>
          <p:nvPr/>
        </p:nvSpPr>
        <p:spPr>
          <a:xfrm>
            <a:off x="338736" y="975539"/>
            <a:ext cx="101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Batch Processing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859F93-CFEC-47F1-BF50-787D2C312476}"/>
              </a:ext>
            </a:extLst>
          </p:cNvPr>
          <p:cNvSpPr txBox="1"/>
          <p:nvPr/>
        </p:nvSpPr>
        <p:spPr>
          <a:xfrm>
            <a:off x="541941" y="1454135"/>
            <a:ext cx="11311322" cy="206210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Silver data</a:t>
            </a: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Read historical data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stored in Amazon S3</a:t>
            </a: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Spark batch job runs hourly (</a:t>
            </a:r>
            <a:r>
              <a:rPr lang="en-US" b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CronJob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</a:t>
            </a: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Cleans, deduplicates, and add average </a:t>
            </a:r>
            <a:r>
              <a:rPr lang="en-US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tempurature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 24 hours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Outputs 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Silver data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for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Gold data</a:t>
            </a: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AutoShape 4" descr="Kafka là gì? Tại sao nó lại phổ biến đến vậy?">
            <a:extLst>
              <a:ext uri="{FF2B5EF4-FFF2-40B4-BE49-F238E27FC236}">
                <a16:creationId xmlns:a16="http://schemas.microsoft.com/office/drawing/2014/main" id="{B3924824-F781-1830-6D1F-3964D3CCCD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A diagram of an internet search engine&#10;&#10;AI-generated content may be incorrect.">
            <a:extLst>
              <a:ext uri="{FF2B5EF4-FFF2-40B4-BE49-F238E27FC236}">
                <a16:creationId xmlns:a16="http://schemas.microsoft.com/office/drawing/2014/main" id="{B9549844-C9D8-396F-A26E-9E7CCBDB6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65" r="2779" b="19298"/>
          <a:stretch>
            <a:fillRect/>
          </a:stretch>
        </p:blipFill>
        <p:spPr>
          <a:xfrm>
            <a:off x="1224547" y="2990712"/>
            <a:ext cx="8894012" cy="315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510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EE76D-681A-2306-C340-7805159DC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11E9B-E2E6-364C-9C40-93A6D91F6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II. Architecture and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7583B-D01F-91FC-A3A2-9024FF290B7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93476"/>
            <a:ext cx="11514528" cy="4909124"/>
          </a:xfrm>
        </p:spPr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C114D7-D01B-F07F-5409-93C16652C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A92420-41FB-5394-A30C-1FA7EA5582AE}"/>
              </a:ext>
            </a:extLst>
          </p:cNvPr>
          <p:cNvSpPr txBox="1"/>
          <p:nvPr/>
        </p:nvSpPr>
        <p:spPr>
          <a:xfrm>
            <a:off x="213360" y="1466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295C500-6DA0-A3E1-5E10-BF6DC1045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C86080-6F2C-F866-DC69-5174C94A6B9B}"/>
              </a:ext>
            </a:extLst>
          </p:cNvPr>
          <p:cNvSpPr txBox="1"/>
          <p:nvPr/>
        </p:nvSpPr>
        <p:spPr>
          <a:xfrm>
            <a:off x="338736" y="975539"/>
            <a:ext cx="101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Batch Processing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B391D0-42CC-1C44-31E0-08210B586124}"/>
              </a:ext>
            </a:extLst>
          </p:cNvPr>
          <p:cNvSpPr txBox="1"/>
          <p:nvPr/>
        </p:nvSpPr>
        <p:spPr>
          <a:xfrm>
            <a:off x="541941" y="1454135"/>
            <a:ext cx="11311322" cy="206210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Gold data</a:t>
            </a: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Spark batch job runs every 1h10m (</a:t>
            </a:r>
            <a:r>
              <a:rPr lang="en-US" b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CronJob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</a:t>
            </a: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Aggregates 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Silver data → hourly city-level metrics</a:t>
            </a: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Computes alerts &amp; derived features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Writes 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Gold data to Elasticsearch for dashboards</a:t>
            </a: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AutoShape 4" descr="Kafka là gì? Tại sao nó lại phổ biến đến vậy?">
            <a:extLst>
              <a:ext uri="{FF2B5EF4-FFF2-40B4-BE49-F238E27FC236}">
                <a16:creationId xmlns:a16="http://schemas.microsoft.com/office/drawing/2014/main" id="{ED534EBD-894E-AFAB-26F5-A50492CD3E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A diagram of an internet search engine&#10;&#10;AI-generated content may be incorrect.">
            <a:extLst>
              <a:ext uri="{FF2B5EF4-FFF2-40B4-BE49-F238E27FC236}">
                <a16:creationId xmlns:a16="http://schemas.microsoft.com/office/drawing/2014/main" id="{3BD3289C-5AF3-9360-813A-A3E2142E3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65" r="2779" b="19298"/>
          <a:stretch>
            <a:fillRect/>
          </a:stretch>
        </p:blipFill>
        <p:spPr>
          <a:xfrm>
            <a:off x="118081" y="2912424"/>
            <a:ext cx="8894012" cy="31567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3811C2-B3FF-A5B3-EA52-7A6170F0D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1482" y="2912424"/>
            <a:ext cx="4611781" cy="217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56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B15BC-F123-6EC1-27EE-338BFCC24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7E0EF-4558-6193-D236-FB0A0DB2B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II. Architecture and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EEADC-8FF5-BCBB-7857-CFAE17E30FE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93476"/>
            <a:ext cx="11514528" cy="4909124"/>
          </a:xfrm>
        </p:spPr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BE966-1322-3B19-CB66-EAE14C6E5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3A0AB2-CF2E-900C-931B-C70E0E15ED78}"/>
              </a:ext>
            </a:extLst>
          </p:cNvPr>
          <p:cNvSpPr txBox="1"/>
          <p:nvPr/>
        </p:nvSpPr>
        <p:spPr>
          <a:xfrm>
            <a:off x="213360" y="1466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08DAE70-082D-4D82-34FA-29A6824DF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6B4591-4E92-57D4-132E-261A8A801E5F}"/>
              </a:ext>
            </a:extLst>
          </p:cNvPr>
          <p:cNvSpPr txBox="1"/>
          <p:nvPr/>
        </p:nvSpPr>
        <p:spPr>
          <a:xfrm>
            <a:off x="338736" y="975539"/>
            <a:ext cx="101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Machine Learning model Implementation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BAD3FF-B994-6C96-8E82-787D7F85B920}"/>
              </a:ext>
            </a:extLst>
          </p:cNvPr>
          <p:cNvSpPr txBox="1"/>
          <p:nvPr/>
        </p:nvSpPr>
        <p:spPr>
          <a:xfrm>
            <a:off x="716387" y="1537220"/>
            <a:ext cx="11311322" cy="23083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Spark </a:t>
            </a:r>
            <a:r>
              <a:rPr lang="en-US" b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MLlib</a:t>
            </a:r>
            <a:endParaRPr lang="en-US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Hourly batch inference with Spark </a:t>
            </a:r>
            <a:r>
              <a:rPr lang="en-US" b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MLlib</a:t>
            </a: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Uses 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last 24h S3 + recent Bronze data</a:t>
            </a: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Predicts 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next-hour temperature per city</a:t>
            </a: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Stores predictions in 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Elasticsearch for visualization</a:t>
            </a: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AutoShape 4" descr="Kafka là gì? Tại sao nó lại phổ biến đến vậy?">
            <a:extLst>
              <a:ext uri="{FF2B5EF4-FFF2-40B4-BE49-F238E27FC236}">
                <a16:creationId xmlns:a16="http://schemas.microsoft.com/office/drawing/2014/main" id="{C03FF1CC-6055-F808-B487-CB31B8FB52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 descr="A diagram of a company&#10;&#10;AI-generated content may be incorrect.">
            <a:extLst>
              <a:ext uri="{FF2B5EF4-FFF2-40B4-BE49-F238E27FC236}">
                <a16:creationId xmlns:a16="http://schemas.microsoft.com/office/drawing/2014/main" id="{5FBA28DE-4433-3D02-BFF5-0D2D17F0B2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97" t="24942" r="7093" b="21532"/>
          <a:stretch>
            <a:fillRect/>
          </a:stretch>
        </p:blipFill>
        <p:spPr>
          <a:xfrm>
            <a:off x="612705" y="3151399"/>
            <a:ext cx="8905092" cy="3086302"/>
          </a:xfrm>
          <a:prstGeom prst="rect">
            <a:avLst/>
          </a:prstGeom>
        </p:spPr>
      </p:pic>
      <p:pic>
        <p:nvPicPr>
          <p:cNvPr id="12" name="Picture 11" descr="A screen shot of a graph&#10;&#10;AI-generated content may be incorrect.">
            <a:extLst>
              <a:ext uri="{FF2B5EF4-FFF2-40B4-BE49-F238E27FC236}">
                <a16:creationId xmlns:a16="http://schemas.microsoft.com/office/drawing/2014/main" id="{9EF93476-4BE9-BD27-4D47-4A9269120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6954" y="2985322"/>
            <a:ext cx="4921686" cy="219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584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72271-90CD-413C-1FDF-DA6F49511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D07BA-BC24-E68D-F165-FB5DCBA01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II. Architecture and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04D85-8835-3E73-F790-1E20875E39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93476"/>
            <a:ext cx="11514528" cy="4909124"/>
          </a:xfrm>
        </p:spPr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239AC-A9C1-A2EA-B803-5F4289D3E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2B6DC5-AD93-654C-8347-153C8193A6BE}"/>
              </a:ext>
            </a:extLst>
          </p:cNvPr>
          <p:cNvSpPr txBox="1"/>
          <p:nvPr/>
        </p:nvSpPr>
        <p:spPr>
          <a:xfrm>
            <a:off x="213360" y="1466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21325B1-399A-D1BF-BAAE-E914A625B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04E48B-CD90-606E-2A14-6E26399A4C42}"/>
              </a:ext>
            </a:extLst>
          </p:cNvPr>
          <p:cNvSpPr txBox="1"/>
          <p:nvPr/>
        </p:nvSpPr>
        <p:spPr>
          <a:xfrm>
            <a:off x="338736" y="975539"/>
            <a:ext cx="101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Visualization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BA0861-3E63-9E6A-25FB-04AD4C8FD4F2}"/>
              </a:ext>
            </a:extLst>
          </p:cNvPr>
          <p:cNvSpPr txBox="1"/>
          <p:nvPr/>
        </p:nvSpPr>
        <p:spPr>
          <a:xfrm>
            <a:off x="541941" y="1454135"/>
            <a:ext cx="11311322" cy="203132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Kibana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Monitoring &amp; analytics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Gold + ML outputs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Interactive dashboards</a:t>
            </a:r>
            <a:endParaRPr lang="en-US"/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AutoShape 4" descr="Kafka là gì? Tại sao nó lại phổ biến đến vậy?">
            <a:extLst>
              <a:ext uri="{FF2B5EF4-FFF2-40B4-BE49-F238E27FC236}">
                <a16:creationId xmlns:a16="http://schemas.microsoft.com/office/drawing/2014/main" id="{C2D7170A-290E-43FF-69EB-124B78AE12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 descr="A diagram of a company&#10;&#10;AI-generated content may be incorrect.">
            <a:extLst>
              <a:ext uri="{FF2B5EF4-FFF2-40B4-BE49-F238E27FC236}">
                <a16:creationId xmlns:a16="http://schemas.microsoft.com/office/drawing/2014/main" id="{6AA20942-BACA-3A96-8E8C-0E7AD922BA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97" t="24942" r="7093" b="21532"/>
          <a:stretch>
            <a:fillRect/>
          </a:stretch>
        </p:blipFill>
        <p:spPr>
          <a:xfrm>
            <a:off x="3823170" y="975866"/>
            <a:ext cx="7217094" cy="2510129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FC814E-DAEF-F201-D456-AEFABF591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874" y="3429000"/>
            <a:ext cx="5693809" cy="288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090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F11B0-6091-7436-3AED-1495B1BFC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0D6F4-3FC5-68B1-4C1F-A444C97AA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II. Architecture and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8E17C-69AF-1F69-3034-5AD1490C3E4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93476"/>
            <a:ext cx="11514528" cy="4909124"/>
          </a:xfrm>
        </p:spPr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B2249B-8857-DFB3-616D-36123E79F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863CFC-8530-98F3-9CA8-31C706FABBF6}"/>
              </a:ext>
            </a:extLst>
          </p:cNvPr>
          <p:cNvSpPr txBox="1"/>
          <p:nvPr/>
        </p:nvSpPr>
        <p:spPr>
          <a:xfrm>
            <a:off x="213360" y="1466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073DAC0-6F19-9898-A1D0-93F75F784C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2CCF36-6E32-C11A-74D1-494D0B899EE9}"/>
              </a:ext>
            </a:extLst>
          </p:cNvPr>
          <p:cNvSpPr txBox="1"/>
          <p:nvPr/>
        </p:nvSpPr>
        <p:spPr>
          <a:xfrm>
            <a:off x="338736" y="975539"/>
            <a:ext cx="10160000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2000" b="1" dirty="0">
                <a:latin typeface="Lato"/>
                <a:ea typeface="Lato"/>
                <a:cs typeface="Lato"/>
              </a:rPr>
              <a:t>Deployment</a:t>
            </a:r>
            <a:endParaRPr lang="en-US" sz="20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6204E9-10DF-D255-189B-D20AB4047739}"/>
              </a:ext>
            </a:extLst>
          </p:cNvPr>
          <p:cNvSpPr txBox="1"/>
          <p:nvPr/>
        </p:nvSpPr>
        <p:spPr>
          <a:xfrm>
            <a:off x="541941" y="1454135"/>
            <a:ext cx="11311322" cy="36933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Kubernetes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Kubernetes provides a </a:t>
            </a:r>
            <a:r>
              <a:rPr lang="en-US" b="1">
                <a:ea typeface="+mn-lt"/>
                <a:cs typeface="+mn-lt"/>
              </a:rPr>
              <a:t>unified orchestration layer</a:t>
            </a:r>
            <a:r>
              <a:rPr lang="en-US">
                <a:ea typeface="+mn-lt"/>
                <a:cs typeface="+mn-lt"/>
              </a:rPr>
              <a:t> to run streaming, batch, and ML workloads on the same infrastructure.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It handles </a:t>
            </a:r>
            <a:r>
              <a:rPr lang="en-US" b="1">
                <a:ea typeface="+mn-lt"/>
                <a:cs typeface="+mn-lt"/>
              </a:rPr>
              <a:t>resource scheduling and isolation</a:t>
            </a:r>
            <a:r>
              <a:rPr lang="en-US">
                <a:ea typeface="+mn-lt"/>
                <a:cs typeface="+mn-lt"/>
              </a:rPr>
              <a:t>, allowing Spark, Kafka, and Elasticsearch to coexist without hard coupling.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Kubernetes enables </a:t>
            </a:r>
            <a:r>
              <a:rPr lang="en-US" b="1">
                <a:ea typeface="+mn-lt"/>
                <a:cs typeface="+mn-lt"/>
              </a:rPr>
              <a:t>fault recovery and restart</a:t>
            </a:r>
            <a:r>
              <a:rPr lang="en-US">
                <a:ea typeface="+mn-lt"/>
                <a:cs typeface="+mn-lt"/>
              </a:rPr>
              <a:t> of long-running services such as Kafka brokers and Spark streaming jobs.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It simplifies </a:t>
            </a:r>
            <a:r>
              <a:rPr lang="en-US" b="1">
                <a:ea typeface="+mn-lt"/>
                <a:cs typeface="+mn-lt"/>
              </a:rPr>
              <a:t>deployment and lifecycle management</a:t>
            </a:r>
            <a:r>
              <a:rPr lang="en-US">
                <a:ea typeface="+mn-lt"/>
                <a:cs typeface="+mn-lt"/>
              </a:rPr>
              <a:t> through declarative manifests and operators (Strimzi, Spark Operator, Elastic Operator).</a:t>
            </a:r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AutoShape 4" descr="Kafka là gì? Tại sao nó lại phổ biến đến vậy?">
            <a:extLst>
              <a:ext uri="{FF2B5EF4-FFF2-40B4-BE49-F238E27FC236}">
                <a16:creationId xmlns:a16="http://schemas.microsoft.com/office/drawing/2014/main" id="{ECB90080-0B0A-06E5-65EE-DEA81B4588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Picture 12" descr="Kubernetes for Developers #3: kubectl CLI">
            <a:extLst>
              <a:ext uri="{FF2B5EF4-FFF2-40B4-BE49-F238E27FC236}">
                <a16:creationId xmlns:a16="http://schemas.microsoft.com/office/drawing/2014/main" id="{F8D6B300-EEBC-08D5-A185-2649A3EEF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0587" y="3931282"/>
            <a:ext cx="3643335" cy="2424474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F3A6D0E-77AE-B41F-2651-E6562CF70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8980" y="3948113"/>
            <a:ext cx="3658306" cy="2387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041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F9254-19CF-EA8A-FA48-4CBB84929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47149-B8BF-4B33-76AC-70FF904C6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III. Implementation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50218-3C1C-7BA7-48A3-9394876CA27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93476"/>
            <a:ext cx="11514528" cy="4909124"/>
          </a:xfrm>
        </p:spPr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02AAE8-3E31-41D7-DEE5-225071257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1978C4-FEA5-C840-4F1A-E59CBD296164}"/>
              </a:ext>
            </a:extLst>
          </p:cNvPr>
          <p:cNvSpPr txBox="1"/>
          <p:nvPr/>
        </p:nvSpPr>
        <p:spPr>
          <a:xfrm>
            <a:off x="213360" y="1466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2A62E49-0105-6CE6-1E7B-AC73DF57C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8414AE-655D-7DC2-F57B-CB01AB47BB11}"/>
              </a:ext>
            </a:extLst>
          </p:cNvPr>
          <p:cNvSpPr txBox="1"/>
          <p:nvPr/>
        </p:nvSpPr>
        <p:spPr>
          <a:xfrm>
            <a:off x="338736" y="975539"/>
            <a:ext cx="101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Kafka 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Producer (Data sources readers): </a:t>
            </a:r>
            <a:r>
              <a:rPr lang="en-US" i="1" u="sng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Weather-</a:t>
            </a:r>
            <a:r>
              <a:rPr lang="en-US" i="1" u="sng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producer.yaml</a:t>
            </a:r>
            <a:r>
              <a:rPr lang="en-US" i="1" u="sng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(for </a:t>
            </a:r>
            <a:r>
              <a:rPr lang="en-US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kafka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</a:t>
            </a:r>
            <a:endParaRPr lang="en-US" sz="20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AutoShape 4" descr="Kafka là gì? Tại sao nó lại phổ biến đến vậy?">
            <a:extLst>
              <a:ext uri="{FF2B5EF4-FFF2-40B4-BE49-F238E27FC236}">
                <a16:creationId xmlns:a16="http://schemas.microsoft.com/office/drawing/2014/main" id="{0C0B2F1D-2F12-2685-CFF2-54B83D7CCC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DDE8F2-59DF-A27D-9478-FB2EEB6C9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610" y="1571139"/>
            <a:ext cx="4139067" cy="42314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7749E1-7E16-4C08-F37E-F7C8D757F2EE}"/>
              </a:ext>
            </a:extLst>
          </p:cNvPr>
          <p:cNvSpPr txBox="1"/>
          <p:nvPr/>
        </p:nvSpPr>
        <p:spPr>
          <a:xfrm>
            <a:off x="6549892" y="1720484"/>
            <a:ext cx="478957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Lifecycle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Deployment creates Pod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Pod starts Python script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Script: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Fetches weather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Produces messages to Kafka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If script crashes: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Pod restarts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Producer reconnects automatically</a:t>
            </a:r>
          </a:p>
        </p:txBody>
      </p:sp>
    </p:spTree>
    <p:extLst>
      <p:ext uri="{BB962C8B-B14F-4D97-AF65-F5344CB8AC3E}">
        <p14:creationId xmlns:p14="http://schemas.microsoft.com/office/powerpoint/2010/main" val="41410074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625FE-34DD-92EF-B4B8-C5850EAF9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EFC58-8473-294A-4286-4808D5C80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III. Implementation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A1983-9A10-5151-29C1-4C7A67BDAB0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93476"/>
            <a:ext cx="11514528" cy="4909124"/>
          </a:xfrm>
        </p:spPr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20D659-5327-668A-2331-FCC546BD6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48432C-EDB0-9D6E-5266-143C408C7305}"/>
              </a:ext>
            </a:extLst>
          </p:cNvPr>
          <p:cNvSpPr txBox="1"/>
          <p:nvPr/>
        </p:nvSpPr>
        <p:spPr>
          <a:xfrm>
            <a:off x="213360" y="1466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CEF0D43-F2C9-9669-4127-B55C89A9E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392A55-C007-F70B-235E-2A3DCAABA2DD}"/>
              </a:ext>
            </a:extLst>
          </p:cNvPr>
          <p:cNvSpPr txBox="1"/>
          <p:nvPr/>
        </p:nvSpPr>
        <p:spPr>
          <a:xfrm>
            <a:off x="338736" y="975538"/>
            <a:ext cx="30301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S3</a:t>
            </a:r>
          </a:p>
        </p:txBody>
      </p:sp>
      <p:sp>
        <p:nvSpPr>
          <p:cNvPr id="10" name="AutoShape 4" descr="Kafka là gì? Tại sao nó lại phổ biến đến vậy?">
            <a:extLst>
              <a:ext uri="{FF2B5EF4-FFF2-40B4-BE49-F238E27FC236}">
                <a16:creationId xmlns:a16="http://schemas.microsoft.com/office/drawing/2014/main" id="{F4F04351-F29C-8136-A601-46BE5DB67D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16BCCA-CCFD-9ACF-0EBE-15BB08552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834" y="1175593"/>
            <a:ext cx="3308985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9016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3C30C-A868-E748-6271-022678B20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C8614-D5C2-93DD-7FC1-E965AADCA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III. Implementation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CCD5E-8CEE-9B12-9157-152A8289DE6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93476"/>
            <a:ext cx="11514528" cy="4909124"/>
          </a:xfrm>
        </p:spPr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CD41DF-8F7A-9BF1-638F-3EE720F50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34E13A-D231-810A-F1A0-221559863227}"/>
              </a:ext>
            </a:extLst>
          </p:cNvPr>
          <p:cNvSpPr txBox="1"/>
          <p:nvPr/>
        </p:nvSpPr>
        <p:spPr>
          <a:xfrm>
            <a:off x="213360" y="1466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411F994-9C2A-4E3B-5CD0-26302E3E8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C542D7-0479-D3A3-6C25-FEE66849589F}"/>
              </a:ext>
            </a:extLst>
          </p:cNvPr>
          <p:cNvSpPr txBox="1"/>
          <p:nvPr/>
        </p:nvSpPr>
        <p:spPr>
          <a:xfrm>
            <a:off x="338736" y="975538"/>
            <a:ext cx="30301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Bronze</a:t>
            </a:r>
          </a:p>
        </p:txBody>
      </p:sp>
      <p:sp>
        <p:nvSpPr>
          <p:cNvPr id="10" name="AutoShape 4" descr="Kafka là gì? Tại sao nó lại phổ biến đến vậy?">
            <a:extLst>
              <a:ext uri="{FF2B5EF4-FFF2-40B4-BE49-F238E27FC236}">
                <a16:creationId xmlns:a16="http://schemas.microsoft.com/office/drawing/2014/main" id="{FB119A7A-8E99-049F-F1ED-6780B601F9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5EA427-FA8B-9E40-C7A0-8544B54BF848}"/>
              </a:ext>
            </a:extLst>
          </p:cNvPr>
          <p:cNvSpPr txBox="1"/>
          <p:nvPr/>
        </p:nvSpPr>
        <p:spPr>
          <a:xfrm>
            <a:off x="6512092" y="1055400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Silver.yaml</a:t>
            </a:r>
            <a:endParaRPr lang="en-US" sz="18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A0CD958-3A80-BFD0-0FC7-524DC31C5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07" y="1588016"/>
            <a:ext cx="3195955" cy="38036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A39F241-BD77-8C32-723A-833594DF3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031" y="1579880"/>
            <a:ext cx="3176270" cy="400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6383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B075F-8017-F508-F952-942A0FE43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84B56-F7CA-5FC5-76AD-951D60CB3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III. Implementation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24797-00C6-896F-1E2B-3B2201A99FC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93476"/>
            <a:ext cx="11514528" cy="4909124"/>
          </a:xfrm>
        </p:spPr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527F2-EB77-9DDF-7F90-16C579F5D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40C1A8-1F36-18EA-4767-83387FBEF545}"/>
              </a:ext>
            </a:extLst>
          </p:cNvPr>
          <p:cNvSpPr txBox="1"/>
          <p:nvPr/>
        </p:nvSpPr>
        <p:spPr>
          <a:xfrm>
            <a:off x="213360" y="1466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157357C-6F85-AAEF-AAF7-D712DCDC5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EB6B0D-A482-55FA-7214-7EC4FA4C1C62}"/>
              </a:ext>
            </a:extLst>
          </p:cNvPr>
          <p:cNvSpPr txBox="1"/>
          <p:nvPr/>
        </p:nvSpPr>
        <p:spPr>
          <a:xfrm>
            <a:off x="338736" y="975538"/>
            <a:ext cx="30301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Gold</a:t>
            </a:r>
          </a:p>
        </p:txBody>
      </p:sp>
      <p:sp>
        <p:nvSpPr>
          <p:cNvPr id="10" name="AutoShape 4" descr="Kafka là gì? Tại sao nó lại phổ biến đến vậy?">
            <a:extLst>
              <a:ext uri="{FF2B5EF4-FFF2-40B4-BE49-F238E27FC236}">
                <a16:creationId xmlns:a16="http://schemas.microsoft.com/office/drawing/2014/main" id="{B6325A99-9A43-059E-A4A7-BF581D540F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019793-D4FA-D220-065F-AC539FACA307}"/>
              </a:ext>
            </a:extLst>
          </p:cNvPr>
          <p:cNvSpPr txBox="1"/>
          <p:nvPr/>
        </p:nvSpPr>
        <p:spPr>
          <a:xfrm>
            <a:off x="6512092" y="1055400"/>
            <a:ext cx="60939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Machine Learning Implementation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545075-0503-4813-5F77-47D56036C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48" y="1530032"/>
            <a:ext cx="3188335" cy="41027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2C57ED-6018-B354-8ACB-F613F9577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575" y="1530032"/>
            <a:ext cx="3835400" cy="4601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6541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1D13E-BF40-D6AA-2C21-983EA1956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BEF60-7756-1882-CCEB-55CD00C72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III. Implementation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C7B48-AB94-F7A6-AE4E-8941EE1E474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93476"/>
            <a:ext cx="11514528" cy="4909124"/>
          </a:xfrm>
        </p:spPr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BA336-955D-4CA7-1415-7302CE514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0A1CFC-80FF-F013-E34C-F326279F203A}"/>
              </a:ext>
            </a:extLst>
          </p:cNvPr>
          <p:cNvSpPr txBox="1"/>
          <p:nvPr/>
        </p:nvSpPr>
        <p:spPr>
          <a:xfrm>
            <a:off x="213360" y="1466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95E9ED5-1033-6B81-F4FA-B15C5CB9D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437ECF-0038-6FA2-6F36-FF40D11312A9}"/>
              </a:ext>
            </a:extLst>
          </p:cNvPr>
          <p:cNvSpPr txBox="1"/>
          <p:nvPr/>
        </p:nvSpPr>
        <p:spPr>
          <a:xfrm>
            <a:off x="338736" y="975538"/>
            <a:ext cx="30301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Elasticsearch</a:t>
            </a:r>
          </a:p>
        </p:txBody>
      </p:sp>
      <p:sp>
        <p:nvSpPr>
          <p:cNvPr id="10" name="AutoShape 4" descr="Kafka là gì? Tại sao nó lại phổ biến đến vậy?">
            <a:extLst>
              <a:ext uri="{FF2B5EF4-FFF2-40B4-BE49-F238E27FC236}">
                <a16:creationId xmlns:a16="http://schemas.microsoft.com/office/drawing/2014/main" id="{ABB689A3-B6DC-BF3D-1A26-3F5ACAD888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063C4F-88D5-5A03-C521-DB6A31219197}"/>
              </a:ext>
            </a:extLst>
          </p:cNvPr>
          <p:cNvSpPr txBox="1"/>
          <p:nvPr/>
        </p:nvSpPr>
        <p:spPr>
          <a:xfrm>
            <a:off x="6512092" y="1055400"/>
            <a:ext cx="60939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Kibana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5D4424-CDF0-1A3F-B76D-6871D354F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529" y="1624263"/>
            <a:ext cx="3303477" cy="44140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612FD9F-37D5-748E-3E7A-B64769E76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2092" y="1516059"/>
            <a:ext cx="3631565" cy="463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0273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BA203-1084-072A-47C1-E41BCF593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A6E87-56C1-3EB8-3E01-BF6DA1F58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III. Implementation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D18D3-2E8D-1DC4-9F11-6D7A977740F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93476"/>
            <a:ext cx="11514528" cy="4909124"/>
          </a:xfrm>
        </p:spPr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2494A-28E6-B065-76F8-A8C693981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180457-6D28-D15B-A96F-1B4E7A404A72}"/>
              </a:ext>
            </a:extLst>
          </p:cNvPr>
          <p:cNvSpPr txBox="1"/>
          <p:nvPr/>
        </p:nvSpPr>
        <p:spPr>
          <a:xfrm>
            <a:off x="213360" y="1466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731C9B2-91E1-9877-F87C-56EA38219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7570CC-13B5-2E99-EEE3-27B384AEC6D6}"/>
              </a:ext>
            </a:extLst>
          </p:cNvPr>
          <p:cNvSpPr txBox="1"/>
          <p:nvPr/>
        </p:nvSpPr>
        <p:spPr>
          <a:xfrm>
            <a:off x="338735" y="975539"/>
            <a:ext cx="11355959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Deployment strategy</a:t>
            </a:r>
          </a:p>
          <a:p>
            <a:pPr algn="just"/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 first deploy on docker using many </a:t>
            </a:r>
            <a:r>
              <a:rPr lang="en-US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Dockerfiles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with a docker-</a:t>
            </a:r>
            <a:r>
              <a:rPr lang="en-US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compose.yml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 to run everything</a:t>
            </a:r>
            <a:endParaRPr lang="en-US" sz="20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AutoShape 4" descr="Kafka là gì? Tại sao nó lại phổ biến đến vậy?">
            <a:extLst>
              <a:ext uri="{FF2B5EF4-FFF2-40B4-BE49-F238E27FC236}">
                <a16:creationId xmlns:a16="http://schemas.microsoft.com/office/drawing/2014/main" id="{B075640C-D1C6-F0D1-A742-398C21897D6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BC8E7B7-EEBA-5376-6154-7923A69E3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740" y="1649904"/>
            <a:ext cx="2777490" cy="4155440"/>
          </a:xfrm>
          <a:prstGeom prst="rect">
            <a:avLst/>
          </a:prstGeom>
        </p:spPr>
      </p:pic>
      <p:pic>
        <p:nvPicPr>
          <p:cNvPr id="6" name="Picture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46B52F8F-4850-8CF2-7A2C-2ADF2CBB4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6606" y="2408524"/>
            <a:ext cx="4202430" cy="306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303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58E0B-377F-6A0B-7C27-46E700F22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3ACDE9B9-FBD4-2CF9-21BB-8E50C76E6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083" y="4621757"/>
            <a:ext cx="5944644" cy="11165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8B0A92-F732-4A6F-C4C2-848190634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>
                <a:latin typeface="Lato"/>
                <a:ea typeface="Lato"/>
                <a:cs typeface="Lato"/>
              </a:rPr>
              <a:t>III. Implementation Details</a:t>
            </a:r>
            <a:endParaRPr lang="en-US" b="0">
              <a:latin typeface="Lato"/>
              <a:ea typeface="Lato"/>
              <a:cs typeface="Lato"/>
            </a:endParaRPr>
          </a:p>
          <a:p>
            <a:endParaRPr lang="en-US" b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5EE07-024C-6DD6-8789-9027B31B6FC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93476"/>
            <a:ext cx="11514528" cy="4909124"/>
          </a:xfrm>
        </p:spPr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0A32F-77F5-6D66-A0C5-EC60C6CF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B39071-7151-B9BF-2793-2B05C5FD0388}"/>
              </a:ext>
            </a:extLst>
          </p:cNvPr>
          <p:cNvSpPr txBox="1"/>
          <p:nvPr/>
        </p:nvSpPr>
        <p:spPr>
          <a:xfrm>
            <a:off x="213360" y="1466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036A495-EAFB-3E8D-AC31-B4379432A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C30685-4418-430B-AF04-2F00AF358980}"/>
              </a:ext>
            </a:extLst>
          </p:cNvPr>
          <p:cNvSpPr txBox="1"/>
          <p:nvPr/>
        </p:nvSpPr>
        <p:spPr>
          <a:xfrm>
            <a:off x="338736" y="975539"/>
            <a:ext cx="10160000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2000" b="1">
                <a:latin typeface="Lato"/>
                <a:ea typeface="Lato"/>
                <a:cs typeface="Lato"/>
              </a:rPr>
              <a:t>Deployment​ strategy</a:t>
            </a:r>
            <a:endParaRPr lang="en-US" sz="20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2EEB0C-01C1-F4B0-8F23-89063F59B6AC}"/>
              </a:ext>
            </a:extLst>
          </p:cNvPr>
          <p:cNvSpPr txBox="1"/>
          <p:nvPr/>
        </p:nvSpPr>
        <p:spPr>
          <a:xfrm>
            <a:off x="541941" y="1454135"/>
            <a:ext cx="11311322" cy="30469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>
                <a:latin typeface="Lato"/>
                <a:ea typeface="Lato"/>
                <a:cs typeface="Lato"/>
              </a:rPr>
              <a:t>Kubernetes​</a:t>
            </a:r>
            <a:endParaRPr lang="en-US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Deployed on a </a:t>
            </a:r>
            <a:r>
              <a:rPr lang="en-US" b="1">
                <a:ea typeface="+mn-lt"/>
                <a:cs typeface="+mn-lt"/>
              </a:rPr>
              <a:t>single-node Kubernetes cluster</a:t>
            </a:r>
            <a:r>
              <a:rPr lang="en-US">
                <a:ea typeface="+mn-lt"/>
                <a:cs typeface="+mn-lt"/>
              </a:rPr>
              <a:t>, where one node acts as both </a:t>
            </a:r>
            <a:r>
              <a:rPr lang="en-US" b="1">
                <a:ea typeface="+mn-lt"/>
                <a:cs typeface="+mn-lt"/>
              </a:rPr>
              <a:t>control plane and worker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Uses </a:t>
            </a:r>
            <a:r>
              <a:rPr lang="en-US" b="1">
                <a:ea typeface="+mn-lt"/>
                <a:cs typeface="+mn-lt"/>
              </a:rPr>
              <a:t>containerd</a:t>
            </a:r>
            <a:r>
              <a:rPr lang="en-US">
                <a:ea typeface="+mn-lt"/>
                <a:cs typeface="+mn-lt"/>
              </a:rPr>
              <a:t> as the container runtime with CPU and memory sized for data processing workloads.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Employs </a:t>
            </a:r>
            <a:r>
              <a:rPr lang="en-US" b="1">
                <a:ea typeface="+mn-lt"/>
                <a:cs typeface="+mn-lt"/>
              </a:rPr>
              <a:t>PersistentVolumeClaims (PVCs)</a:t>
            </a:r>
            <a:r>
              <a:rPr lang="en-US">
                <a:ea typeface="+mn-lt"/>
                <a:cs typeface="+mn-lt"/>
              </a:rPr>
              <a:t> for Spark checkpoints and intermediate data storage.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Organizes services into </a:t>
            </a:r>
            <a:r>
              <a:rPr lang="en-US" b="1">
                <a:ea typeface="+mn-lt"/>
                <a:cs typeface="+mn-lt"/>
              </a:rPr>
              <a:t>separate namespaces</a:t>
            </a:r>
            <a:r>
              <a:rPr lang="en-US">
                <a:ea typeface="+mn-lt"/>
                <a:cs typeface="+mn-lt"/>
              </a:rPr>
              <a:t> to ensure logical isolation and easier management.</a:t>
            </a:r>
          </a:p>
          <a:p>
            <a:endParaRPr lang="en-US">
              <a:latin typeface="Calibri"/>
              <a:ea typeface="+mn-lt"/>
              <a:cs typeface="Calibri"/>
            </a:endParaRPr>
          </a:p>
          <a:p>
            <a:pPr lvl="1">
              <a:buFont typeface="Arial"/>
              <a:buChar char="•"/>
            </a:pPr>
            <a:endParaRPr lang="en-US" sz="1200">
              <a:latin typeface="Arial"/>
              <a:ea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/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AutoShape 4" descr="Kafka là gì? Tại sao nó lại phổ biến đến vậy?">
            <a:extLst>
              <a:ext uri="{FF2B5EF4-FFF2-40B4-BE49-F238E27FC236}">
                <a16:creationId xmlns:a16="http://schemas.microsoft.com/office/drawing/2014/main" id="{08DD448C-2BBA-6D16-16C6-F537A151E3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6385FB36-D4B7-FD30-2533-7E5DF9239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083" y="3263747"/>
            <a:ext cx="5898180" cy="1343025"/>
          </a:xfrm>
          <a:prstGeom prst="rect">
            <a:avLst/>
          </a:prstGeom>
        </p:spPr>
      </p:pic>
      <p:pic>
        <p:nvPicPr>
          <p:cNvPr id="13" name="Picture 1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0195F39-E20F-8224-B39A-8D4B51801E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986" y="3262645"/>
            <a:ext cx="5563644" cy="2467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5488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2B2AC-4610-981F-EDF2-BC0FBDAD1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E84AF-E875-CDE3-4428-0F2CEE4EE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IV. Lesson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F056F-E8D6-3754-F60B-35509B5E58B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93476"/>
            <a:ext cx="11514528" cy="4909124"/>
          </a:xfrm>
        </p:spPr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2C3516-CFF8-A3CE-BA0E-72F8965E7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FE249E-B6C1-8FD7-3E03-12CC06EC5C50}"/>
              </a:ext>
            </a:extLst>
          </p:cNvPr>
          <p:cNvSpPr txBox="1"/>
          <p:nvPr/>
        </p:nvSpPr>
        <p:spPr>
          <a:xfrm>
            <a:off x="213360" y="1466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523C41D-DCFF-CCAB-11C2-04EEAEB8A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0A2B35-A800-5D5E-70A0-B2A8C4F3F128}"/>
              </a:ext>
            </a:extLst>
          </p:cNvPr>
          <p:cNvSpPr txBox="1"/>
          <p:nvPr/>
        </p:nvSpPr>
        <p:spPr>
          <a:xfrm>
            <a:off x="543273" y="1055102"/>
            <a:ext cx="10160000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System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Enable data flow from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Kafka to Spark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and from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Spark to Elasticsearch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Kafka and Spark run on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Kubernetes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requiring proper service configuration for communication.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Approaches Tried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Docker Compose Configuration</a:t>
            </a: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Used docker-</a:t>
            </a:r>
            <a:r>
              <a:rPr lang="en-US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compose.yml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to connect Kafka, Spark, and Elasticsearch.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Effective for local development and testing.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Kubernetes YAML Configuration</a:t>
            </a: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Used .</a:t>
            </a:r>
            <a:r>
              <a:rPr lang="en-US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yaml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manifests to define services, deployments, and networking.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Kubernetes-native approach for inter-service communication.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Final Solution: Kubernetes YAML files selected</a:t>
            </a: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Required for Kubernetes-based deployment.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Provides full control over networking, scaling, and service discovery.</a:t>
            </a:r>
          </a:p>
          <a:p>
            <a:pPr algn="just"/>
            <a:endParaRPr lang="en-US" sz="20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AutoShape 4" descr="Kafka là gì? Tại sao nó lại phổ biến đến vậy?">
            <a:extLst>
              <a:ext uri="{FF2B5EF4-FFF2-40B4-BE49-F238E27FC236}">
                <a16:creationId xmlns:a16="http://schemas.microsoft.com/office/drawing/2014/main" id="{E7CFEA09-5533-A13E-B3D4-6E55A73DB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9586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10F70-C9F4-A393-5650-DFAEFC317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FA9E2-B43C-1127-8E29-FB3B7DB64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IV. Lesson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52F82-8E2B-737C-582C-FF11BAC208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93476"/>
            <a:ext cx="11514528" cy="4909124"/>
          </a:xfrm>
        </p:spPr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888606-345F-147F-8A83-5347A1537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95E76C-3F82-62DB-AB37-3C21D392BA0B}"/>
              </a:ext>
            </a:extLst>
          </p:cNvPr>
          <p:cNvSpPr txBox="1"/>
          <p:nvPr/>
        </p:nvSpPr>
        <p:spPr>
          <a:xfrm>
            <a:off x="213360" y="1466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40034F7-8C6C-087F-D96B-7A638F2FA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43C686-D21B-3321-57EB-56374299DABD}"/>
              </a:ext>
            </a:extLst>
          </p:cNvPr>
          <p:cNvSpPr txBox="1"/>
          <p:nvPr/>
        </p:nvSpPr>
        <p:spPr>
          <a:xfrm>
            <a:off x="579367" y="893476"/>
            <a:ext cx="10160000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Performance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Problem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Frequent loading of S3 data for each ML inference.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Approach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Cache historical data in Spark </a:t>
            </a:r>
            <a:r>
              <a:rPr lang="en-US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DataFrames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Load only the previous 24 hours at the start of each hour.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Final Solution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Use cached data instead of reloading from S3.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20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Monitoring &amp; Debugging</a:t>
            </a:r>
          </a:p>
          <a:p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Problem: 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Need system logs and visibility for monitoring.</a:t>
            </a:r>
          </a:p>
          <a:p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Approaches</a:t>
            </a: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Kubernetes CLI commands (</a:t>
            </a:r>
            <a:r>
              <a:rPr lang="en-US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kubectl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describe, logs).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Grafana-based monitoring.</a:t>
            </a:r>
          </a:p>
          <a:p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Final Solution</a:t>
            </a: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Kubernetes-native commands used.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Grafana rejected due to high resource overhead.</a:t>
            </a:r>
          </a:p>
        </p:txBody>
      </p:sp>
      <p:sp>
        <p:nvSpPr>
          <p:cNvPr id="10" name="AutoShape 4" descr="Kafka là gì? Tại sao nó lại phổ biến đến vậy?">
            <a:extLst>
              <a:ext uri="{FF2B5EF4-FFF2-40B4-BE49-F238E27FC236}">
                <a16:creationId xmlns:a16="http://schemas.microsoft.com/office/drawing/2014/main" id="{C837713A-435D-27C3-5B9C-55CE5A33DB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 descr="Kubernetes for Developers #3: kubectl CLI">
            <a:extLst>
              <a:ext uri="{FF2B5EF4-FFF2-40B4-BE49-F238E27FC236}">
                <a16:creationId xmlns:a16="http://schemas.microsoft.com/office/drawing/2014/main" id="{B31BF38D-B297-D8ED-BB89-CC9D71CBF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298" y="3378126"/>
            <a:ext cx="3643335" cy="242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322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A9BCF-BC76-0DF2-1DC5-7EC2B74E5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C19A1-5968-46C6-6CAC-CE2EE93C9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IV. Lesson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3CC20-F3BE-4CD8-1AD9-802873650F7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93476"/>
            <a:ext cx="11514528" cy="4909124"/>
          </a:xfrm>
        </p:spPr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3A4AD-D799-5E0D-F214-FA2559D37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9B118A-FDCB-C130-C795-12E2CE045DC1}"/>
              </a:ext>
            </a:extLst>
          </p:cNvPr>
          <p:cNvSpPr txBox="1"/>
          <p:nvPr/>
        </p:nvSpPr>
        <p:spPr>
          <a:xfrm>
            <a:off x="213360" y="1466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B65177F-7BDE-6B76-3DEB-E9B1E6020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BDF742-E029-0113-991D-5FC17D3462E9}"/>
              </a:ext>
            </a:extLst>
          </p:cNvPr>
          <p:cNvSpPr txBox="1"/>
          <p:nvPr/>
        </p:nvSpPr>
        <p:spPr>
          <a:xfrm>
            <a:off x="579367" y="893476"/>
            <a:ext cx="1016000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Scaling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Problem: 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Improve Spark processing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Approach: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Increased Spark executors from 1 to 2.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Enabled parallel processing of data partitions.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Final Solution: 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Two Spark executors used in production.</a:t>
            </a: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20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Quality &amp;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Problem: 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Prevent broken pipelines before pushing code to GitHub.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Approaches</a:t>
            </a: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Local unit testing of individual components.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Manual testing of data flow.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Docker used to simulate production services.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Final Solution: 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Combine local testing with container-based integration testing.</a:t>
            </a:r>
          </a:p>
        </p:txBody>
      </p:sp>
      <p:sp>
        <p:nvSpPr>
          <p:cNvPr id="10" name="AutoShape 4" descr="Kafka là gì? Tại sao nó lại phổ biến đến vậy?">
            <a:extLst>
              <a:ext uri="{FF2B5EF4-FFF2-40B4-BE49-F238E27FC236}">
                <a16:creationId xmlns:a16="http://schemas.microsoft.com/office/drawing/2014/main" id="{3A38C12D-A7C7-0EB6-772E-E51E46DF23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 descr="Driver vs Executor in Apache Spark: Responsibilities, Failures, and  Recovery | by Siddharth Ghosh | Python in Plain English">
            <a:extLst>
              <a:ext uri="{FF2B5EF4-FFF2-40B4-BE49-F238E27FC236}">
                <a16:creationId xmlns:a16="http://schemas.microsoft.com/office/drawing/2014/main" id="{8A3C0F09-54C2-F8A7-E1E0-885E6B938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8198" y="1466334"/>
            <a:ext cx="2971800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278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77C70-93FD-73AF-D0F1-288F46100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C8D0E-7937-AAC1-847F-13C3C30AB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IV. Lesson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08555-9DC6-4D5E-F030-F5AEB2CF82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93476"/>
            <a:ext cx="11514528" cy="4909124"/>
          </a:xfrm>
        </p:spPr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426928-7812-B611-2156-086E3414A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1893FF-71B7-0029-7BF8-4D2ED8AB2417}"/>
              </a:ext>
            </a:extLst>
          </p:cNvPr>
          <p:cNvSpPr txBox="1"/>
          <p:nvPr/>
        </p:nvSpPr>
        <p:spPr>
          <a:xfrm>
            <a:off x="213360" y="1466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48F7557-554A-C519-D8BD-9ECB37A90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45FA55-1AFA-14FA-4215-AABE6E084A71}"/>
              </a:ext>
            </a:extLst>
          </p:cNvPr>
          <p:cNvSpPr txBox="1"/>
          <p:nvPr/>
        </p:nvSpPr>
        <p:spPr>
          <a:xfrm>
            <a:off x="579367" y="893476"/>
            <a:ext cx="10160000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Quality &amp;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Problem</a:t>
            </a: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Prevent broken pipelines before pushing code to GitHub.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Approaches</a:t>
            </a: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Local unit testing of individual components.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Manual testing of data flow.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Docker used to simulate production services.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Final Solution</a:t>
            </a: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Combine local testing with container-based integration testing.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Key Takeaways</a:t>
            </a: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Early testing reduces deployment errors.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Component isolation simplifies debugging</a:t>
            </a:r>
            <a:r>
              <a:rPr lang="en-US" sz="2000"/>
              <a:t>.</a:t>
            </a:r>
          </a:p>
        </p:txBody>
      </p:sp>
      <p:sp>
        <p:nvSpPr>
          <p:cNvPr id="10" name="AutoShape 4" descr="Kafka là gì? Tại sao nó lại phổ biến đến vậy?">
            <a:extLst>
              <a:ext uri="{FF2B5EF4-FFF2-40B4-BE49-F238E27FC236}">
                <a16:creationId xmlns:a16="http://schemas.microsoft.com/office/drawing/2014/main" id="{F64E8FF2-4111-1DA8-26F1-AAD9772383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2101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CBEDE-55E2-6C50-231D-EA2395451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051C3-38CD-131C-8DF0-238B11552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V. 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6B718-32C8-5204-C451-AE1B5597B52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93476"/>
            <a:ext cx="11514528" cy="4909124"/>
          </a:xfrm>
        </p:spPr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C9BCA1-46C6-A4E5-F5C7-27EE5B28B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D73D19-9D9A-5C4A-0490-AD9A40359C7B}"/>
              </a:ext>
            </a:extLst>
          </p:cNvPr>
          <p:cNvSpPr txBox="1"/>
          <p:nvPr/>
        </p:nvSpPr>
        <p:spPr>
          <a:xfrm>
            <a:off x="213360" y="1466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7F2C95E-698F-F91F-F1A7-072579C2A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602D03-86D2-2BD3-677B-FF2739D10DE9}"/>
              </a:ext>
            </a:extLst>
          </p:cNvPr>
          <p:cNvSpPr txBox="1"/>
          <p:nvPr/>
        </p:nvSpPr>
        <p:spPr>
          <a:xfrm>
            <a:off x="579367" y="893476"/>
            <a:ext cx="10160000" cy="563231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 dirty="0">
                <a:latin typeface="Lato"/>
                <a:ea typeface="Lato"/>
                <a:cs typeface="Lato"/>
              </a:rPr>
              <a:t>In conclusion, we have … 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This project successfully builds an end-to-end real-time weather data pipeline for Vietnam using modern Big Data technologies.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The system integrates Kafka, Spark (streaming &amp; batch), Elasticsearch, and Kubernetes to process, store, and analyze high-velocity weather data.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A Lambda Architecture is applied to support both real-time analytics and historical batch processing.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The pipeline demonstrates scalability, fault tolerance, and modular deployment suitable for real-world data engineering systems.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r>
              <a:rPr lang="en-US" sz="2000" b="1" dirty="0">
                <a:latin typeface="Lato"/>
                <a:ea typeface="Lato"/>
                <a:cs typeface="Lato"/>
              </a:rPr>
              <a:t>Future works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Extend forecasting models with advanced ML/DL approaches (e.g., LSTM, Transformer-based time-series models).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Expand data sources to include additional meteorological APIs and sensor networks.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Deploy the system on a multi-node Kubernetes cluster to evaluate scalability and high availability.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Optimize resource usage and monitoring with lightweight observability solutions.</a:t>
            </a:r>
            <a:endParaRPr lang="en-US" dirty="0"/>
          </a:p>
          <a:p>
            <a:endParaRPr lang="en-US" sz="2000" b="1" dirty="0">
              <a:latin typeface="Lato"/>
              <a:ea typeface="Lato"/>
              <a:cs typeface="Lato"/>
            </a:endParaRPr>
          </a:p>
        </p:txBody>
      </p:sp>
      <p:sp>
        <p:nvSpPr>
          <p:cNvPr id="10" name="AutoShape 4" descr="Kafka là gì? Tại sao nó lại phổ biến đến vậy?">
            <a:extLst>
              <a:ext uri="{FF2B5EF4-FFF2-40B4-BE49-F238E27FC236}">
                <a16:creationId xmlns:a16="http://schemas.microsoft.com/office/drawing/2014/main" id="{3CE3C510-A7CC-6751-9460-D3B98AE01A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135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A48BB8D2F816649AE74A74327230B4A" ma:contentTypeVersion="11" ma:contentTypeDescription="Create a new document." ma:contentTypeScope="" ma:versionID="4fd25010d252fb83867afbfcfdef905c">
  <xsd:schema xmlns:xsd="http://www.w3.org/2001/XMLSchema" xmlns:xs="http://www.w3.org/2001/XMLSchema" xmlns:p="http://schemas.microsoft.com/office/2006/metadata/properties" xmlns:ns3="ba434b36-bda4-4aea-a11a-eba0450ca3f7" targetNamespace="http://schemas.microsoft.com/office/2006/metadata/properties" ma:root="true" ma:fieldsID="f9248bcbdfdea860b1e5c550e4aab14a" ns3:_="">
    <xsd:import namespace="ba434b36-bda4-4aea-a11a-eba0450ca3f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434b36-bda4-4aea-a11a-eba0450ca3f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a434b36-bda4-4aea-a11a-eba0450ca3f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B05317-A8D6-4E92-8899-B34B16E1835F}">
  <ds:schemaRefs>
    <ds:schemaRef ds:uri="ba434b36-bda4-4aea-a11a-eba0450ca3f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B39C311-F380-4DB9-AE0A-3A87FDE5084F}">
  <ds:schemaRefs>
    <ds:schemaRef ds:uri="ba434b36-bda4-4aea-a11a-eba0450ca3f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2B6E89A-ACDD-4356-97CE-5FAF1FAF869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1425</Words>
  <Application>Microsoft Office PowerPoint</Application>
  <PresentationFormat>Widescreen</PresentationFormat>
  <Paragraphs>273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PowerPoint Presentation</vt:lpstr>
      <vt:lpstr>Table of contents</vt:lpstr>
      <vt:lpstr>I. Problem Definition</vt:lpstr>
      <vt:lpstr>I. Problem Definition</vt:lpstr>
      <vt:lpstr>II. Architecture and Design</vt:lpstr>
      <vt:lpstr>II. Architecture and Design</vt:lpstr>
      <vt:lpstr>II. Architecture and Design</vt:lpstr>
      <vt:lpstr>II. Architecture and Design</vt:lpstr>
      <vt:lpstr>II. Architecture and Design</vt:lpstr>
      <vt:lpstr>II. Architecture and Design</vt:lpstr>
      <vt:lpstr>II. Architecture and Design</vt:lpstr>
      <vt:lpstr>II. Architecture and Design</vt:lpstr>
      <vt:lpstr>II. Architecture and Design</vt:lpstr>
      <vt:lpstr>II. Architecture and Design</vt:lpstr>
      <vt:lpstr>II. Architecture and Design</vt:lpstr>
      <vt:lpstr>II. Architecture and Design</vt:lpstr>
      <vt:lpstr>II. Architecture and Design</vt:lpstr>
      <vt:lpstr>III. Implementation Details</vt:lpstr>
      <vt:lpstr>III. Implementation Details</vt:lpstr>
      <vt:lpstr>III. Implementation Details</vt:lpstr>
      <vt:lpstr>III. Implementation Details</vt:lpstr>
      <vt:lpstr>III. Implementation Details</vt:lpstr>
      <vt:lpstr>III. Implementation Details</vt:lpstr>
      <vt:lpstr>III. Implementation Details </vt:lpstr>
      <vt:lpstr>IV. Lesson learned</vt:lpstr>
      <vt:lpstr>IV. Lesson learned</vt:lpstr>
      <vt:lpstr>IV. Lesson learned</vt:lpstr>
      <vt:lpstr>IV. Lesson learned</vt:lpstr>
      <vt:lpstr>V. 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Anh Vu Hoang Nhat</cp:lastModifiedBy>
  <cp:revision>12</cp:revision>
  <dcterms:created xsi:type="dcterms:W3CDTF">2021-05-28T04:32:29Z</dcterms:created>
  <dcterms:modified xsi:type="dcterms:W3CDTF">2025-12-28T13:31:29Z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0x010100EA48BB8D2F816649AE74A74327230B4A</vt:lpwstr>
  </property>
</Properties>
</file>